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C81A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9C81A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1828800"/>
            <a:ext cx="3657600" cy="3657600"/>
          </a:xfrm>
          <a:prstGeom prst="ellipse">
            <a:avLst/>
          </a:prstGeom>
          <a:solidFill>
            <a:srgbClr val="98A2B3">
              <a:alpha val="7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GovEnrich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C81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AI-Powered Government Lead Intelligence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Bridging the data gap between Apollo.io and public government records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 supercharge law enforcement sales intelligence.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931920"/>
            <a:ext cx="3840480" cy="4114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9319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8A2B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Apollo × Google Cloud Hackathon  |  Best Use of Claude Code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A2B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Kyle  ·  EdgeTrace, Inc.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C81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C81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Selling to law enforcement agencies means navigating fragmented, incomplete data.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423160" cy="25603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28800"/>
            <a:ext cx="2423160" cy="45720"/>
          </a:xfrm>
          <a:prstGeom prst="rect">
            <a:avLst/>
          </a:prstGeom>
          <a:solidFill>
            <a:srgbClr val="9C81AA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057400"/>
            <a:ext cx="502920" cy="502920"/>
          </a:xfrm>
          <a:prstGeom prst="ellipse">
            <a:avLst/>
          </a:prstGeom>
          <a:solidFill>
            <a:srgbClr val="9C81A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031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2697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Apollo Gaps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05840" y="310896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sworn officer counts or agency-specific metrics for government orgs.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83280" y="1828800"/>
            <a:ext cx="2423160" cy="25603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1828800"/>
            <a:ext cx="2423160" cy="45720"/>
          </a:xfrm>
          <a:prstGeom prst="rect">
            <a:avLst/>
          </a:prstGeom>
          <a:solidFill>
            <a:srgbClr val="98A2B3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2057400"/>
            <a:ext cx="502920" cy="502920"/>
          </a:xfrm>
          <a:prstGeom prst="ellipse">
            <a:avLst/>
          </a:prstGeom>
          <a:solidFill>
            <a:srgbClr val="98A2B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10312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0" y="2697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Silos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657600" y="310896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FBI, USASpending, and Census each live in separate portals with different formats.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035040" y="1828800"/>
            <a:ext cx="2423160" cy="25603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35040" y="1828800"/>
            <a:ext cx="2423160" cy="45720"/>
          </a:xfrm>
          <a:prstGeom prst="rect">
            <a:avLst/>
          </a:prstGeom>
          <a:solidFill>
            <a:srgbClr val="9C81AA"/>
          </a:solidFill>
          <a:ln/>
        </p:spPr>
      </p:sp>
      <p:sp>
        <p:nvSpPr>
          <p:cNvPr id="19" name="Shape 15"/>
          <p:cNvSpPr/>
          <p:nvPr/>
        </p:nvSpPr>
        <p:spPr>
          <a:xfrm>
            <a:off x="6263640" y="2057400"/>
            <a:ext cx="502920" cy="502920"/>
          </a:xfrm>
          <a:prstGeom prst="ellipse">
            <a:avLst/>
          </a:prstGeom>
          <a:solidFill>
            <a:srgbClr val="9C81A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0312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09360" y="2697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Manual Research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309360" y="310896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Reps spend hours stitching together data from 4+ sources per prospect.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C81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C81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GovEnrich: One MCP command unifies 4 data sources into a single enriched record.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2926080" cy="6400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65960"/>
            <a:ext cx="54864" cy="640080"/>
          </a:xfrm>
          <a:prstGeom prst="rect">
            <a:avLst/>
          </a:prstGeom>
          <a:solidFill>
            <a:srgbClr val="9C81A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7568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9842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Apollo.io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63040" y="22585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A2B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Org data, contacts,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8A2B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revenue, domains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749040" y="2286000"/>
            <a:ext cx="640080" cy="0"/>
          </a:xfrm>
          <a:prstGeom prst="line">
            <a:avLst/>
          </a:prstGeom>
          <a:noFill/>
          <a:ln w="19050">
            <a:solidFill>
              <a:srgbClr val="98A2B3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731520" y="2651760"/>
            <a:ext cx="2926080" cy="6400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2651760"/>
            <a:ext cx="54864" cy="640080"/>
          </a:xfrm>
          <a:prstGeom prst="rect">
            <a:avLst/>
          </a:prstGeom>
          <a:solidFill>
            <a:srgbClr val="98A2B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761488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63040" y="26700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FBI CDE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463040" y="2944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A2B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Sworn officer counts,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8A2B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agency type, ORI codes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749040" y="2971800"/>
            <a:ext cx="640080" cy="0"/>
          </a:xfrm>
          <a:prstGeom prst="line">
            <a:avLst/>
          </a:prstGeom>
          <a:noFill/>
          <a:ln w="19050">
            <a:solidFill>
              <a:srgbClr val="98A2B3"/>
            </a:solidFill>
            <a:prstDash val="dash"/>
          </a:ln>
        </p:spPr>
      </p:sp>
      <p:sp>
        <p:nvSpPr>
          <p:cNvPr id="17" name="Shape 13"/>
          <p:cNvSpPr/>
          <p:nvPr/>
        </p:nvSpPr>
        <p:spPr>
          <a:xfrm>
            <a:off x="731520" y="3337560"/>
            <a:ext cx="2926080" cy="6400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31520" y="3337560"/>
            <a:ext cx="54864" cy="640080"/>
          </a:xfrm>
          <a:prstGeom prst="rect">
            <a:avLst/>
          </a:prstGeom>
          <a:solidFill>
            <a:srgbClr val="9C81A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47288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33558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USASpending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463040" y="3630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A2B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Federal grants,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8A2B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 budget signals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3749040" y="3657600"/>
            <a:ext cx="640080" cy="0"/>
          </a:xfrm>
          <a:prstGeom prst="line">
            <a:avLst/>
          </a:prstGeom>
          <a:noFill/>
          <a:ln w="19050">
            <a:solidFill>
              <a:srgbClr val="98A2B3"/>
            </a:solidFill>
            <a:prstDash val="dash"/>
          </a:ln>
        </p:spPr>
      </p:sp>
      <p:sp>
        <p:nvSpPr>
          <p:cNvPr id="23" name="Shape 18"/>
          <p:cNvSpPr/>
          <p:nvPr/>
        </p:nvSpPr>
        <p:spPr>
          <a:xfrm>
            <a:off x="731520" y="4023360"/>
            <a:ext cx="2926080" cy="6400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31520" y="4023360"/>
            <a:ext cx="54864" cy="640080"/>
          </a:xfrm>
          <a:prstGeom prst="rect">
            <a:avLst/>
          </a:prstGeom>
          <a:solidFill>
            <a:srgbClr val="98A2B3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133088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463040" y="40416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Census API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463040" y="4315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A2B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 government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8A2B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 data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3749040" y="4343400"/>
            <a:ext cx="640080" cy="0"/>
          </a:xfrm>
          <a:prstGeom prst="line">
            <a:avLst/>
          </a:prstGeom>
          <a:noFill/>
          <a:ln w="19050">
            <a:solidFill>
              <a:srgbClr val="98A2B3"/>
            </a:solidFill>
            <a:prstDash val="dash"/>
          </a:ln>
        </p:spPr>
      </p:sp>
      <p:sp>
        <p:nvSpPr>
          <p:cNvPr id="29" name="Shape 23"/>
          <p:cNvSpPr/>
          <p:nvPr/>
        </p:nvSpPr>
        <p:spPr>
          <a:xfrm>
            <a:off x="4480560" y="2011680"/>
            <a:ext cx="2011680" cy="2103120"/>
          </a:xfrm>
          <a:prstGeom prst="rect">
            <a:avLst/>
          </a:prstGeom>
          <a:solidFill>
            <a:srgbClr val="9C81AA">
              <a:alpha val="85000"/>
            </a:srgbClr>
          </a:solidFill>
          <a:ln w="25400">
            <a:solidFill>
              <a:srgbClr val="9C81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360" y="2240280"/>
            <a:ext cx="548640" cy="5486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480560" y="2834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GovEnrich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MCP Server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4480560" y="3429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8A2B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tools  ·  Go binary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6583680" y="3063240"/>
            <a:ext cx="548640" cy="0"/>
          </a:xfrm>
          <a:prstGeom prst="line">
            <a:avLst/>
          </a:prstGeom>
          <a:noFill/>
          <a:ln w="25400">
            <a:solidFill>
              <a:srgbClr val="9C81AA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7223760" y="1828800"/>
            <a:ext cx="1554480" cy="24688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223760" y="1828800"/>
            <a:ext cx="1554480" cy="45720"/>
          </a:xfrm>
          <a:prstGeom prst="rect">
            <a:avLst/>
          </a:prstGeom>
          <a:solidFill>
            <a:srgbClr val="9C81AA"/>
          </a:solidFill>
          <a:ln/>
        </p:spPr>
      </p:sp>
      <p:sp>
        <p:nvSpPr>
          <p:cNvPr id="36" name="Text 29"/>
          <p:cNvSpPr/>
          <p:nvPr/>
        </p:nvSpPr>
        <p:spPr>
          <a:xfrm>
            <a:off x="7223760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81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Unified Output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7360920" y="2331720"/>
            <a:ext cx="1280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Sworn officers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Revenue &amp; size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Federal grants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ICP fit score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contacts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C81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C81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Built with Claude Code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Claude Code didn't just help write code — it architected the entire plugin.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4572000" cy="658368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91640"/>
            <a:ext cx="54864" cy="658368"/>
          </a:xfrm>
          <a:prstGeom prst="rect">
            <a:avLst/>
          </a:prstGeom>
          <a:solidFill>
            <a:srgbClr val="9C81A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19656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Multi-Agent Architecture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508760" y="19933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specialized Claude Code agents (Server, Tools, Integration) worked in parallel on separate concerns.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1520" y="2514600"/>
            <a:ext cx="4572000" cy="658368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2514600"/>
            <a:ext cx="54864" cy="658368"/>
          </a:xfrm>
          <a:prstGeom prst="rect">
            <a:avLst/>
          </a:prstGeom>
          <a:solidFill>
            <a:srgbClr val="9C81A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642616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25603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Spec-Driven Development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508760" y="28163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Claude Code generated detailed SPEC.md files, then each agent implemented against them autonomously.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31520" y="3337560"/>
            <a:ext cx="4572000" cy="658368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3337560"/>
            <a:ext cx="54864" cy="658368"/>
          </a:xfrm>
          <a:prstGeom prst="rect">
            <a:avLst/>
          </a:prstGeom>
          <a:solidFill>
            <a:srgbClr val="9C81A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6557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383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Concurrent Fan-Out Design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508760" y="36393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Claude Code designed the Go concurrency patterns — parallel API calls with graceful partial failure.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31520" y="4160520"/>
            <a:ext cx="4572000" cy="658368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31520" y="4160520"/>
            <a:ext cx="54864" cy="658368"/>
          </a:xfrm>
          <a:prstGeom prst="rect">
            <a:avLst/>
          </a:prstGeom>
          <a:solidFill>
            <a:srgbClr val="9C81A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288536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4206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End-to-End Testing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508760" y="44622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Built the --hello-world connectivity harness and stub MCP server for integration smoke tests.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669280" y="1691640"/>
            <a:ext cx="3017520" cy="3200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669280" y="1691640"/>
            <a:ext cx="3017520" cy="45720"/>
          </a:xfrm>
          <a:prstGeom prst="rect">
            <a:avLst/>
          </a:prstGeom>
          <a:solidFill>
            <a:srgbClr val="9C81AA"/>
          </a:solidFill>
          <a:ln/>
        </p:spPr>
      </p:sp>
      <p:sp>
        <p:nvSpPr>
          <p:cNvPr id="27" name="Text 21"/>
          <p:cNvSpPr/>
          <p:nvPr/>
        </p:nvSpPr>
        <p:spPr>
          <a:xfrm>
            <a:off x="5669280" y="1920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C81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By the Numbers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5852160" y="2377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81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600" dirty="0"/>
          </a:p>
        </p:txBody>
      </p:sp>
      <p:sp>
        <p:nvSpPr>
          <p:cNvPr id="29" name="Text 23"/>
          <p:cNvSpPr/>
          <p:nvPr/>
        </p:nvSpPr>
        <p:spPr>
          <a:xfrm>
            <a:off x="7132320" y="2377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MCP Tools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852160" y="2971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81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600" dirty="0"/>
          </a:p>
        </p:txBody>
      </p:sp>
      <p:sp>
        <p:nvSpPr>
          <p:cNvPr id="31" name="Text 25"/>
          <p:cNvSpPr/>
          <p:nvPr/>
        </p:nvSpPr>
        <p:spPr>
          <a:xfrm>
            <a:off x="7132320" y="2971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Claude Code Agents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5852160" y="35661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81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10+</a:t>
            </a:r>
            <a:endParaRPr lang="en-US" sz="2600" dirty="0"/>
          </a:p>
        </p:txBody>
      </p:sp>
      <p:sp>
        <p:nvSpPr>
          <p:cNvPr id="33" name="Text 27"/>
          <p:cNvSpPr/>
          <p:nvPr/>
        </p:nvSpPr>
        <p:spPr>
          <a:xfrm>
            <a:off x="7132320" y="3566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API Endpoints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5852160" y="4160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81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</a:t>
            </a:r>
            <a:endParaRPr lang="en-US" sz="2600" dirty="0"/>
          </a:p>
        </p:txBody>
      </p:sp>
      <p:sp>
        <p:nvSpPr>
          <p:cNvPr id="35" name="Text 29"/>
          <p:cNvSpPr/>
          <p:nvPr/>
        </p:nvSpPr>
        <p:spPr>
          <a:xfrm>
            <a:off x="7132320" y="4160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 — Single Binary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C81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C81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Enrichment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9C81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enrich_gov_agency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→  "Pleasanton Police Department", CA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840480" cy="320040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81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Agency Profile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2B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14600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Pleasanton Police Dept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2B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14600" y="2377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California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697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2B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Type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14600" y="2697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City Police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017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2B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1460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CA0013700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337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2B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Sworn Officers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14600" y="3337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~70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657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2B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Domain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14600" y="3657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cityofpleasantonca.gov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977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2B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Employees (city)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1460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~500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4297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2B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Revenue (city)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14600" y="4297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$150M+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1554480"/>
            <a:ext cx="3840480" cy="160020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0" y="1645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81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ICP Fit Score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18745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9C81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85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5806440" y="1965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8A2B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/100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858000" y="1920240"/>
            <a:ext cx="1463040" cy="365760"/>
          </a:xfrm>
          <a:prstGeom prst="rect">
            <a:avLst/>
          </a:prstGeom>
          <a:solidFill>
            <a:srgbClr val="9C81AA">
              <a:alpha val="3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81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HOT LEAD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0" y="24231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+30  Sworn 50–100 (ICP sweet spot)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+20  City agency type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+15  California market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+15  Active federal grants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+5    Apollo domain found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46320" y="3291840"/>
            <a:ext cx="3840480" cy="1463040"/>
          </a:xfrm>
          <a:prstGeom prst="rect">
            <a:avLst/>
          </a:prstGeom>
          <a:solidFill>
            <a:srgbClr val="111111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0" y="3429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81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Federal Grants Found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0" y="37490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COPS Technology Grant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8A2B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$250K  ·  Active  ·  Dept of Justice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BJA Body-Worn Camera Program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8A2B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$175K  ·  Active  ·  OJP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C81AA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9C81AA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98A2B3">
              <a:alpha val="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C81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What's Next?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2514600" cy="2011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508760"/>
            <a:ext cx="2514600" cy="45720"/>
          </a:xfrm>
          <a:prstGeom prst="rect">
            <a:avLst/>
          </a:prstGeom>
          <a:solidFill>
            <a:srgbClr val="9C81A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22402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Draft Outreach Tool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05840" y="25603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Claude generates personalized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cold emails using enrichment data.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0" y="1508760"/>
            <a:ext cx="2514600" cy="2011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1508760"/>
            <a:ext cx="2514600" cy="45720"/>
          </a:xfrm>
          <a:prstGeom prst="rect">
            <a:avLst/>
          </a:prstGeom>
          <a:solidFill>
            <a:srgbClr val="98A2B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7830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49040" y="22402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 Scoring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749040" y="25603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Auto-rank entire state agencies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by ICP fit for territory planning.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508760"/>
            <a:ext cx="2514600" cy="2011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1508760"/>
            <a:ext cx="2514600" cy="45720"/>
          </a:xfrm>
          <a:prstGeom prst="rect">
            <a:avLst/>
          </a:prstGeom>
          <a:solidFill>
            <a:srgbClr val="9C81A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830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92240" y="22402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More Data Sources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92240" y="25603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NIBRS crime stats, state POST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records, procurement portals.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2514600" y="3794760"/>
            <a:ext cx="4114800" cy="594360"/>
          </a:xfrm>
          <a:prstGeom prst="rect">
            <a:avLst/>
          </a:prstGeom>
          <a:solidFill>
            <a:srgbClr val="9C81A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2514600" y="37947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Demo  →  Let's Go!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1371600" y="4617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A2B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kyle@edgetrace.ai  ·  github.com/edgetrace/govenrich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GovEnrich: AI-Powered Government Lead Intelligence</dc:title>
  <dc:subject>PptxGenJS Presentation</dc:subject>
  <dc:creator>Kyle — EdgeTrace, Inc.</dc:creator>
  <cp:lastModifiedBy>Kyle — EdgeTrace, Inc.</cp:lastModifiedBy>
  <cp:revision>1</cp:revision>
  <dcterms:created xsi:type="dcterms:W3CDTF">2026-04-16T21:45:25Z</dcterms:created>
  <dcterms:modified xsi:type="dcterms:W3CDTF">2026-04-16T21:45:25Z</dcterms:modified>
</cp:coreProperties>
</file>